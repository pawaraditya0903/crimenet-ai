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57406" y="204818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10314" y="1057453"/>
            <a:ext cx="8256086" cy="56497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6680" y="149307"/>
            <a:ext cx="9673406" cy="85151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89208"/>
            <a:ext cx="2249850" cy="1062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64B09-5200-B2F3-DF65-C64A9FA05963}"/>
              </a:ext>
            </a:extLst>
          </p:cNvPr>
          <p:cNvSpPr txBox="1"/>
          <p:nvPr/>
        </p:nvSpPr>
        <p:spPr>
          <a:xfrm>
            <a:off x="315494" y="2150439"/>
            <a:ext cx="5780506" cy="36933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dirty="0">
                <a:solidFill>
                  <a:srgbClr val="212529"/>
                </a:solidFill>
                <a:latin typeface="montserratregular"/>
              </a:rPr>
              <a:t>26132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>
              <a:solidFill>
                <a:srgbClr val="212529"/>
              </a:solidFill>
              <a:latin typeface="montserratregular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dirty="0"/>
              <a:t>Strengthening market linkages and price discovery for farmers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Agriculture,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Software/Hardware: </a:t>
            </a:r>
            <a:r>
              <a:rPr lang="en-IN" dirty="0"/>
              <a:t>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IN" dirty="0"/>
              <a:t>Conquerors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800665" y="129001"/>
            <a:ext cx="3760386" cy="80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7F1305-6364-2823-F71C-B633A7BA913E}"/>
              </a:ext>
            </a:extLst>
          </p:cNvPr>
          <p:cNvSpPr txBox="1"/>
          <p:nvPr/>
        </p:nvSpPr>
        <p:spPr>
          <a:xfrm>
            <a:off x="8269550" y="1395663"/>
            <a:ext cx="3760386" cy="397031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                               📈</a:t>
            </a:r>
          </a:p>
          <a:p>
            <a:r>
              <a:rPr lang="en-IN" dirty="0"/>
              <a:t>             WHEN SHOULD I SELL?</a:t>
            </a:r>
          </a:p>
          <a:p>
            <a:r>
              <a:rPr lang="en-IN" dirty="0"/>
              <a:t>                                │</a:t>
            </a:r>
          </a:p>
          <a:p>
            <a:r>
              <a:rPr lang="en-IN" dirty="0"/>
              <a:t>                               ▼</a:t>
            </a:r>
          </a:p>
          <a:p>
            <a:r>
              <a:rPr lang="en-IN" dirty="0"/>
              <a:t>               ┌──────────────┐</a:t>
            </a:r>
          </a:p>
          <a:p>
            <a:r>
              <a:rPr lang="en-IN" dirty="0"/>
              <a:t>               │     14-DAY AI        │</a:t>
            </a:r>
          </a:p>
          <a:p>
            <a:r>
              <a:rPr lang="en-IN" dirty="0"/>
              <a:t>               │ SALE ADVISOR    │</a:t>
            </a:r>
          </a:p>
          <a:p>
            <a:r>
              <a:rPr lang="en-IN" dirty="0"/>
              <a:t>               └──────────────┘</a:t>
            </a:r>
          </a:p>
          <a:p>
            <a:r>
              <a:rPr lang="en-IN" dirty="0"/>
              <a:t>📷 ─────────► 👨‍🌾 ◄───────── 📊</a:t>
            </a:r>
          </a:p>
          <a:p>
            <a:r>
              <a:rPr lang="en-IN" dirty="0"/>
              <a:t>AI GRADING                  NET PRICE</a:t>
            </a:r>
          </a:p>
          <a:p>
            <a:r>
              <a:rPr lang="en-IN" dirty="0"/>
              <a:t>                               │</a:t>
            </a:r>
          </a:p>
          <a:p>
            <a:r>
              <a:rPr lang="en-IN" dirty="0"/>
              <a:t>                              ▼</a:t>
            </a:r>
          </a:p>
          <a:p>
            <a:r>
              <a:rPr lang="en-IN" dirty="0"/>
              <a:t>             🤝 FPO + ESCROW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8ED83-FB73-3BB8-C3ED-329273894D4C}"/>
              </a:ext>
            </a:extLst>
          </p:cNvPr>
          <p:cNvSpPr txBox="1"/>
          <p:nvPr/>
        </p:nvSpPr>
        <p:spPr>
          <a:xfrm>
            <a:off x="186267" y="1395663"/>
            <a:ext cx="7374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📷 AI QUALITY GRADING</a:t>
            </a:r>
          </a:p>
          <a:p>
            <a:pPr lvl="1"/>
            <a:r>
              <a:rPr lang="en-IN" dirty="0"/>
              <a:t>Smartphone image → Vision model →Size + Ripeness + Defects → Grade</a:t>
            </a:r>
          </a:p>
          <a:p>
            <a:pPr lvl="1"/>
            <a:endParaRPr lang="en-IN" dirty="0"/>
          </a:p>
          <a:p>
            <a:r>
              <a:rPr lang="en-IN" b="1" dirty="0"/>
              <a:t>📊 NET PRICE DISCOVERY</a:t>
            </a:r>
            <a:endParaRPr lang="en-IN" dirty="0"/>
          </a:p>
          <a:p>
            <a:r>
              <a:rPr lang="en-IN" dirty="0"/>
              <a:t>         Mandi Price − Freight − Diesel − Handling = REAL NET PRICE</a:t>
            </a:r>
          </a:p>
          <a:p>
            <a:endParaRPr lang="en-IN" dirty="0"/>
          </a:p>
          <a:p>
            <a:r>
              <a:rPr lang="en-IN" b="1" dirty="0"/>
              <a:t>📈 14-DAY SALE ADVISOR</a:t>
            </a:r>
            <a:endParaRPr lang="en-IN" dirty="0"/>
          </a:p>
          <a:p>
            <a:pPr lvl="1"/>
            <a:r>
              <a:rPr lang="en-IN" dirty="0"/>
              <a:t>Historical/current prices → trend analysis →Sell Now / Wait / Store</a:t>
            </a:r>
          </a:p>
          <a:p>
            <a:endParaRPr lang="en-IN" dirty="0"/>
          </a:p>
          <a:p>
            <a:r>
              <a:rPr lang="en-IN" b="1" dirty="0"/>
              <a:t>🤝 FPO + ESCROW</a:t>
            </a:r>
            <a:endParaRPr lang="en-IN" dirty="0"/>
          </a:p>
          <a:p>
            <a:pPr lvl="1"/>
            <a:r>
              <a:rPr lang="en-IN" dirty="0"/>
              <a:t>Small farmer lots → pooled demand → shared transport →</a:t>
            </a:r>
            <a:br>
              <a:rPr lang="en-IN" dirty="0"/>
            </a:br>
            <a:r>
              <a:rPr lang="en-IN" dirty="0"/>
              <a:t>buyer funds locked before dispatch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B0E65-D592-F6B0-4C96-00F1C074769F}"/>
              </a:ext>
            </a:extLst>
          </p:cNvPr>
          <p:cNvSpPr txBox="1"/>
          <p:nvPr/>
        </p:nvSpPr>
        <p:spPr>
          <a:xfrm>
            <a:off x="397933" y="5466265"/>
            <a:ext cx="7755466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Not just “What is today's price?” — but “What should I do with my crop?”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83DE03-8B0C-4CCC-21F0-F31F01298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-50311"/>
            <a:ext cx="1311136" cy="1223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98FB69-2C09-BCCA-5416-6626AFC90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7918"/>
            <a:ext cx="12191999" cy="58500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BC1384-348F-B795-D45F-EBCA9BBE1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64" y="-50311"/>
            <a:ext cx="1311136" cy="12238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11865" y="116913"/>
            <a:ext cx="7806267" cy="80389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9C2184-583F-6716-D84E-0F5C48938B38}"/>
              </a:ext>
            </a:extLst>
          </p:cNvPr>
          <p:cNvSpPr txBox="1"/>
          <p:nvPr/>
        </p:nvSpPr>
        <p:spPr>
          <a:xfrm>
            <a:off x="110068" y="1295400"/>
            <a:ext cx="32257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🛡️</a:t>
            </a:r>
            <a:r>
              <a:rPr lang="en-IN" sz="1600" b="1" dirty="0"/>
              <a:t>Built for Real-World Village Constraints</a:t>
            </a:r>
          </a:p>
          <a:p>
            <a:pPr lvl="1"/>
            <a:r>
              <a:rPr lang="en-IN" sz="1600" dirty="0"/>
              <a:t>Use four large problem cards.</a:t>
            </a:r>
          </a:p>
          <a:p>
            <a:pPr lvl="1"/>
            <a:r>
              <a:rPr lang="en-IN" sz="1600" b="1" dirty="0"/>
              <a:t>📡 NETWORK</a:t>
            </a:r>
          </a:p>
          <a:p>
            <a:pPr lvl="1"/>
            <a:r>
              <a:rPr lang="en-IN" sz="1600" b="1" dirty="0"/>
              <a:t>Challenge</a:t>
            </a:r>
            <a:endParaRPr lang="en-IN" sz="1600" dirty="0"/>
          </a:p>
          <a:p>
            <a:pPr lvl="1"/>
            <a:r>
              <a:rPr lang="en-IN" sz="1600" dirty="0"/>
              <a:t>Poor 2G/3G connectivity can interrupt cloud-dependent applications.</a:t>
            </a:r>
          </a:p>
          <a:p>
            <a:pPr lvl="1"/>
            <a:r>
              <a:rPr lang="en-IN" sz="1600" b="1" dirty="0"/>
              <a:t>KrishiSetu</a:t>
            </a:r>
            <a:endParaRPr lang="en-IN" sz="1600" dirty="0"/>
          </a:p>
          <a:p>
            <a:pPr lvl="1"/>
            <a:r>
              <a:rPr lang="en-IN" sz="1600" dirty="0"/>
              <a:t>Offline-first PWA</a:t>
            </a:r>
          </a:p>
          <a:p>
            <a:pPr lvl="1"/>
            <a:r>
              <a:rPr lang="en-IN" sz="1600" dirty="0"/>
              <a:t>NO INTERNET</a:t>
            </a:r>
          </a:p>
          <a:p>
            <a:pPr lvl="1"/>
            <a:r>
              <a:rPr lang="en-IN" sz="1600" dirty="0"/>
              <a:t>     ↓</a:t>
            </a:r>
          </a:p>
          <a:p>
            <a:pPr lvl="1"/>
            <a:r>
              <a:rPr lang="en-IN" sz="1600" dirty="0"/>
              <a:t>LOCAL STORAGE</a:t>
            </a:r>
          </a:p>
          <a:p>
            <a:pPr lvl="1"/>
            <a:r>
              <a:rPr lang="en-IN" sz="1600" dirty="0"/>
              <a:t>     ↓</a:t>
            </a:r>
          </a:p>
          <a:p>
            <a:pPr lvl="1"/>
            <a:r>
              <a:rPr lang="en-IN" sz="1600" dirty="0"/>
              <a:t>USER CONTINUES</a:t>
            </a:r>
          </a:p>
          <a:p>
            <a:pPr lvl="1"/>
            <a:r>
              <a:rPr lang="en-IN" sz="1600" dirty="0"/>
              <a:t>     ↓</a:t>
            </a:r>
          </a:p>
          <a:p>
            <a:pPr lvl="1"/>
            <a:r>
              <a:rPr lang="en-IN" sz="1600" dirty="0"/>
              <a:t>AUTO SYNC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1DF5F-7B73-0F2B-AB6C-293E068D13D6}"/>
              </a:ext>
            </a:extLst>
          </p:cNvPr>
          <p:cNvSpPr txBox="1"/>
          <p:nvPr/>
        </p:nvSpPr>
        <p:spPr>
          <a:xfrm>
            <a:off x="3450166" y="1241292"/>
            <a:ext cx="23960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🗣️ DIGITAL LITERACY</a:t>
            </a:r>
          </a:p>
          <a:p>
            <a:r>
              <a:rPr lang="en-IN" b="1" dirty="0"/>
              <a:t>Challenge</a:t>
            </a:r>
            <a:endParaRPr lang="en-IN" dirty="0"/>
          </a:p>
          <a:p>
            <a:r>
              <a:rPr lang="en-IN" dirty="0"/>
              <a:t>Typing and complex interfaces can discourage adoption.</a:t>
            </a:r>
          </a:p>
          <a:p>
            <a:r>
              <a:rPr lang="en-IN" b="1" dirty="0"/>
              <a:t>KrishiSetu</a:t>
            </a:r>
            <a:endParaRPr lang="en-IN" dirty="0"/>
          </a:p>
          <a:p>
            <a:r>
              <a:rPr lang="en-IN" dirty="0"/>
              <a:t>Voice-first interaction</a:t>
            </a:r>
          </a:p>
          <a:p>
            <a:r>
              <a:rPr lang="en-IN" dirty="0"/>
              <a:t>FARMER SPEAKS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BHASHINI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REGIONAL LANGUAGE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ACTION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2A085-2FB6-7C5A-244F-CE583DBC8A17}"/>
              </a:ext>
            </a:extLst>
          </p:cNvPr>
          <p:cNvSpPr txBox="1"/>
          <p:nvPr/>
        </p:nvSpPr>
        <p:spPr>
          <a:xfrm>
            <a:off x="6095999" y="1216634"/>
            <a:ext cx="19219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🚚 LOGISTICS</a:t>
            </a:r>
          </a:p>
          <a:p>
            <a:r>
              <a:rPr lang="en-IN" b="1" dirty="0"/>
              <a:t>Challenge</a:t>
            </a:r>
            <a:endParaRPr lang="en-IN" dirty="0"/>
          </a:p>
          <a:p>
            <a:r>
              <a:rPr lang="en-IN" dirty="0"/>
              <a:t>Small individual farm lots make transportation expensive.</a:t>
            </a:r>
          </a:p>
          <a:p>
            <a:r>
              <a:rPr lang="en-IN" b="1" dirty="0"/>
              <a:t>KrishiSetu</a:t>
            </a:r>
            <a:endParaRPr lang="en-IN" dirty="0"/>
          </a:p>
          <a:p>
            <a:r>
              <a:rPr lang="en-IN" dirty="0"/>
              <a:t>FPO Milk-Run Pooling</a:t>
            </a:r>
          </a:p>
          <a:p>
            <a:r>
              <a:rPr lang="en-IN" dirty="0"/>
              <a:t>F1 ─┐</a:t>
            </a:r>
          </a:p>
          <a:p>
            <a:r>
              <a:rPr lang="en-IN" dirty="0"/>
              <a:t>F2 ─┤</a:t>
            </a:r>
          </a:p>
          <a:p>
            <a:r>
              <a:rPr lang="en-IN" dirty="0"/>
              <a:t>F3 ─┼──► 🚚 </a:t>
            </a:r>
          </a:p>
          <a:p>
            <a:r>
              <a:rPr lang="en-IN" dirty="0"/>
              <a:t>F4 ─┤         ↓</a:t>
            </a:r>
          </a:p>
          <a:p>
            <a:r>
              <a:rPr lang="en-IN" dirty="0"/>
              <a:t>F5 ─┘        MARKET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A960F-48B1-9882-5312-5DA855756656}"/>
              </a:ext>
            </a:extLst>
          </p:cNvPr>
          <p:cNvSpPr txBox="1"/>
          <p:nvPr/>
        </p:nvSpPr>
        <p:spPr>
          <a:xfrm>
            <a:off x="8017932" y="1174437"/>
            <a:ext cx="28425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💸 PAYMENT</a:t>
            </a:r>
          </a:p>
          <a:p>
            <a:r>
              <a:rPr lang="en-IN" b="1" dirty="0"/>
              <a:t>Challenge</a:t>
            </a:r>
            <a:endParaRPr lang="en-IN" dirty="0"/>
          </a:p>
          <a:p>
            <a:r>
              <a:rPr lang="en-IN" dirty="0"/>
              <a:t>Buyer payment uncertainty creates risk.</a:t>
            </a:r>
          </a:p>
          <a:p>
            <a:r>
              <a:rPr lang="en-IN" b="1" dirty="0"/>
              <a:t>KrishiSetu</a:t>
            </a:r>
            <a:endParaRPr lang="en-IN" dirty="0"/>
          </a:p>
          <a:p>
            <a:r>
              <a:rPr lang="en-IN" dirty="0"/>
              <a:t>Escrow-backed transaction</a:t>
            </a:r>
          </a:p>
          <a:p>
            <a:pPr lvl="1"/>
            <a:r>
              <a:rPr lang="en-IN" dirty="0"/>
              <a:t>BUYER</a:t>
            </a:r>
          </a:p>
          <a:p>
            <a:pPr lvl="1"/>
            <a:r>
              <a:rPr lang="en-IN" dirty="0"/>
              <a:t>  ↓</a:t>
            </a:r>
          </a:p>
          <a:p>
            <a:pPr lvl="1"/>
            <a:r>
              <a:rPr lang="en-IN" dirty="0"/>
              <a:t>₹₹₹</a:t>
            </a:r>
          </a:p>
          <a:p>
            <a:pPr lvl="1"/>
            <a:r>
              <a:rPr lang="en-IN" dirty="0"/>
              <a:t>  🔐 ESCROW</a:t>
            </a:r>
          </a:p>
          <a:p>
            <a:pPr lvl="1"/>
            <a:r>
              <a:rPr lang="en-IN" dirty="0"/>
              <a:t>  ↓</a:t>
            </a:r>
          </a:p>
          <a:p>
            <a:pPr lvl="1"/>
            <a:r>
              <a:rPr lang="en-IN" dirty="0"/>
              <a:t>PICKUP</a:t>
            </a:r>
          </a:p>
          <a:p>
            <a:pPr lvl="1"/>
            <a:r>
              <a:rPr lang="en-IN" dirty="0"/>
              <a:t>  ↓</a:t>
            </a:r>
          </a:p>
          <a:p>
            <a:pPr lvl="1"/>
            <a:r>
              <a:rPr lang="en-IN" dirty="0"/>
              <a:t>💰 FARMER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E49A4-4155-6384-0227-988456C7109F}"/>
              </a:ext>
            </a:extLst>
          </p:cNvPr>
          <p:cNvSpPr txBox="1"/>
          <p:nvPr/>
        </p:nvSpPr>
        <p:spPr>
          <a:xfrm>
            <a:off x="4648200" y="5842961"/>
            <a:ext cx="5748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Offline-ready • Voice-first • Logistics-aware • Payment-secured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2547AD-A48D-95C7-E2F1-747556408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-50311"/>
            <a:ext cx="1311136" cy="12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B79805-5647-F14F-14DA-043911A3ACDF}"/>
              </a:ext>
            </a:extLst>
          </p:cNvPr>
          <p:cNvSpPr txBox="1"/>
          <p:nvPr/>
        </p:nvSpPr>
        <p:spPr>
          <a:xfrm>
            <a:off x="817759" y="1085569"/>
            <a:ext cx="4174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From Price Discovery → Income Discovery</a:t>
            </a:r>
          </a:p>
          <a:p>
            <a:r>
              <a:rPr lang="en-IN" dirty="0"/>
              <a:t>Don't just show four statistics.</a:t>
            </a:r>
          </a:p>
          <a:p>
            <a:r>
              <a:rPr lang="en-IN" dirty="0"/>
              <a:t>Show the </a:t>
            </a:r>
            <a:r>
              <a:rPr lang="en-IN" b="1" dirty="0"/>
              <a:t>economic transformation</a:t>
            </a:r>
            <a:r>
              <a:rPr lang="en-IN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FD211-34A3-B80E-A919-185382D282D8}"/>
              </a:ext>
            </a:extLst>
          </p:cNvPr>
          <p:cNvSpPr txBox="1"/>
          <p:nvPr/>
        </p:nvSpPr>
        <p:spPr>
          <a:xfrm>
            <a:off x="1193881" y="2073957"/>
            <a:ext cx="188375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WITHOUT KRISHISETU</a:t>
            </a:r>
          </a:p>
          <a:p>
            <a:r>
              <a:rPr lang="en-IN" sz="1600" dirty="0"/>
              <a:t>HARVEST</a:t>
            </a:r>
          </a:p>
          <a:p>
            <a:r>
              <a:rPr lang="en-IN" sz="1600" dirty="0"/>
              <a:t>   ↓</a:t>
            </a:r>
          </a:p>
          <a:p>
            <a:r>
              <a:rPr lang="en-IN" sz="1600" dirty="0"/>
              <a:t>LOCAL PRICE</a:t>
            </a:r>
          </a:p>
          <a:p>
            <a:r>
              <a:rPr lang="en-IN" sz="1600" dirty="0"/>
              <a:t>   ↓</a:t>
            </a:r>
          </a:p>
          <a:p>
            <a:r>
              <a:rPr lang="en-IN" sz="1600" dirty="0"/>
              <a:t>MIDDLEMAN</a:t>
            </a:r>
          </a:p>
          <a:p>
            <a:r>
              <a:rPr lang="en-IN" sz="1600" dirty="0"/>
              <a:t>   ↓</a:t>
            </a:r>
          </a:p>
          <a:p>
            <a:r>
              <a:rPr lang="en-IN" sz="1600" dirty="0"/>
              <a:t>EXPENSIVE TRANSPORT</a:t>
            </a:r>
          </a:p>
          <a:p>
            <a:r>
              <a:rPr lang="en-IN" sz="1600" dirty="0"/>
              <a:t>   ↓</a:t>
            </a:r>
          </a:p>
          <a:p>
            <a:r>
              <a:rPr lang="en-IN" sz="1600" dirty="0"/>
              <a:t>DISTRESS SALE</a:t>
            </a:r>
          </a:p>
          <a:p>
            <a:r>
              <a:rPr lang="en-IN" sz="1600" dirty="0"/>
              <a:t>   ↓</a:t>
            </a:r>
          </a:p>
          <a:p>
            <a:r>
              <a:rPr lang="en-IN" sz="1600" dirty="0"/>
              <a:t>❌ LOWER NET REALIZATION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78BCC-6F7E-B626-F867-69884EE7207A}"/>
              </a:ext>
            </a:extLst>
          </p:cNvPr>
          <p:cNvSpPr txBox="1"/>
          <p:nvPr/>
        </p:nvSpPr>
        <p:spPr>
          <a:xfrm>
            <a:off x="3062064" y="2073957"/>
            <a:ext cx="24346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WITH KRISHISETU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HARVEST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📷 QUALITY GRADE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📊 MARKET COMPARISON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📈 SELL / WAIT DECISION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🤝 FPO POOLING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🔐         ESCROW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                      ↓</a:t>
            </a:r>
          </a:p>
          <a:p>
            <a:pPr rtl="0">
              <a:buNone/>
            </a:pPr>
            <a:r>
              <a:rPr lang="en-IN" sz="1600" dirty="0">
                <a:latin typeface="Calibri" pitchFamily="34" charset="0"/>
              </a:rPr>
              <a:t>💰        HIGHER NET   </a:t>
            </a:r>
          </a:p>
          <a:p>
            <a:pPr rtl="0">
              <a:buNone/>
            </a:pPr>
            <a:r>
              <a:rPr lang="en-IN" sz="1600" dirty="0"/>
              <a:t>            </a:t>
            </a:r>
            <a:r>
              <a:rPr lang="en-IN" sz="1600" dirty="0">
                <a:latin typeface="Calibri" pitchFamily="34" charset="0"/>
              </a:rPr>
              <a:t> REALIZATION</a:t>
            </a:r>
            <a:endParaRPr lang="en-IN" sz="1600" dirty="0">
              <a:latin typeface="Courier New" panose="020703090202050204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294C57-9E1C-5D50-8012-9DFDC26A0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466015"/>
              </p:ext>
            </p:extLst>
          </p:nvPr>
        </p:nvGraphicFramePr>
        <p:xfrm>
          <a:off x="6250200" y="1685329"/>
          <a:ext cx="4779637" cy="2099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1738">
                  <a:extLst>
                    <a:ext uri="{9D8B030D-6E8A-4147-A177-3AD203B41FA5}">
                      <a16:colId xmlns:a16="http://schemas.microsoft.com/office/drawing/2014/main" val="1170441387"/>
                    </a:ext>
                  </a:extLst>
                </a:gridCol>
                <a:gridCol w="2047899">
                  <a:extLst>
                    <a:ext uri="{9D8B030D-6E8A-4147-A177-3AD203B41FA5}">
                      <a16:colId xmlns:a16="http://schemas.microsoft.com/office/drawing/2014/main" val="2467985086"/>
                    </a:ext>
                  </a:extLst>
                </a:gridCol>
              </a:tblGrid>
              <a:tr h="31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Target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011299"/>
                  </a:ext>
                </a:extLst>
              </a:tr>
              <a:tr h="31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Farmer Net Realization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+22.5%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854758"/>
                  </a:ext>
                </a:extLst>
              </a:tr>
              <a:tr h="546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Post-Harvest Distress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−30%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918851"/>
                  </a:ext>
                </a:extLst>
              </a:tr>
              <a:tr h="31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Shared Logistics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−32%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998612"/>
                  </a:ext>
                </a:extLst>
              </a:tr>
              <a:tr h="546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Buyer Payment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100% Escrow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364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FEF2D1-7E54-2243-1B15-95A41ABC68CC}"/>
              </a:ext>
            </a:extLst>
          </p:cNvPr>
          <p:cNvSpPr txBox="1"/>
          <p:nvPr/>
        </p:nvSpPr>
        <p:spPr>
          <a:xfrm>
            <a:off x="6218482" y="3784959"/>
            <a:ext cx="47796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Target beneficiaries</a:t>
            </a:r>
            <a:endParaRPr lang="en-IN" dirty="0"/>
          </a:p>
          <a:p>
            <a:pPr>
              <a:buNone/>
            </a:pPr>
            <a:r>
              <a:rPr lang="en-IN" dirty="0"/>
              <a:t>👨‍🌾 </a:t>
            </a:r>
            <a:r>
              <a:rPr lang="en-IN" b="1" dirty="0"/>
              <a:t>Farmers</a:t>
            </a:r>
            <a:r>
              <a:rPr lang="en-IN" dirty="0"/>
              <a:t> — better selling decisions</a:t>
            </a:r>
            <a:br>
              <a:rPr lang="en-IN" dirty="0"/>
            </a:br>
            <a:r>
              <a:rPr lang="en-IN" dirty="0"/>
              <a:t>🤝 </a:t>
            </a:r>
            <a:r>
              <a:rPr lang="en-IN" b="1" dirty="0"/>
              <a:t>FPOs</a:t>
            </a:r>
            <a:r>
              <a:rPr lang="en-IN" dirty="0"/>
              <a:t> — collective bargaining &amp; logistics</a:t>
            </a:r>
            <a:br>
              <a:rPr lang="en-IN" dirty="0"/>
            </a:br>
            <a:r>
              <a:rPr lang="en-IN" dirty="0"/>
              <a:t>🏢 </a:t>
            </a:r>
            <a:r>
              <a:rPr lang="en-IN" b="1" dirty="0"/>
              <a:t>Bulk Buyers</a:t>
            </a:r>
            <a:r>
              <a:rPr lang="en-IN" dirty="0"/>
              <a:t> — standardized, traceable sourcing</a:t>
            </a:r>
          </a:p>
          <a:p>
            <a:pPr>
              <a:buNone/>
            </a:pPr>
            <a:r>
              <a:rPr lang="en-IN" b="1" dirty="0"/>
              <a:t>Important:</a:t>
            </a:r>
            <a:r>
              <a:rPr lang="en-IN" dirty="0"/>
              <a:t> I would label these as </a:t>
            </a:r>
            <a:r>
              <a:rPr lang="en-IN" b="1" dirty="0"/>
              <a:t>projected targets</a:t>
            </a:r>
            <a:r>
              <a:rPr lang="en-IN" dirty="0"/>
              <a:t>, not achieved results, unless your team has actual field-test evidence.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F1783B-38CE-3E47-B609-4EC027F35D1C}"/>
              </a:ext>
            </a:extLst>
          </p:cNvPr>
          <p:cNvSpPr txBox="1"/>
          <p:nvPr/>
        </p:nvSpPr>
        <p:spPr>
          <a:xfrm>
            <a:off x="6276947" y="1199227"/>
            <a:ext cx="2010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Impact dashboard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1841D1-7A7D-75F6-A602-0FC67DD6A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-50311"/>
            <a:ext cx="1311136" cy="12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4168" y="96118"/>
            <a:ext cx="7359832" cy="77513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ACA503-9F87-B99B-DC38-06B0ED69727D}"/>
              </a:ext>
            </a:extLst>
          </p:cNvPr>
          <p:cNvSpPr txBox="1"/>
          <p:nvPr/>
        </p:nvSpPr>
        <p:spPr>
          <a:xfrm>
            <a:off x="542255" y="1444478"/>
            <a:ext cx="389658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                            KRISHISETU AI</a:t>
            </a:r>
          </a:p>
          <a:p>
            <a:r>
              <a:rPr lang="en-IN" sz="1600" dirty="0"/>
              <a:t>                                     │</a:t>
            </a:r>
          </a:p>
          <a:p>
            <a:r>
              <a:rPr lang="en-IN" sz="1600" dirty="0"/>
              <a:t>          ┌───────────┼───────────┐</a:t>
            </a:r>
          </a:p>
          <a:p>
            <a:r>
              <a:rPr lang="en-IN" sz="1600" dirty="0"/>
              <a:t>          ▼                       ▼                      ▼</a:t>
            </a:r>
          </a:p>
          <a:p>
            <a:r>
              <a:rPr lang="en-IN" sz="1600" dirty="0"/>
              <a:t>      MARKET       LANGUAGE     COMMERCE</a:t>
            </a:r>
          </a:p>
          <a:p>
            <a:r>
              <a:rPr lang="en-IN" sz="1600" dirty="0"/>
              <a:t>       DATA                    AI                       DPI</a:t>
            </a:r>
          </a:p>
          <a:p>
            <a:r>
              <a:rPr lang="en-IN" sz="1600" dirty="0"/>
              <a:t>          │                         │                         │</a:t>
            </a:r>
          </a:p>
          <a:p>
            <a:r>
              <a:rPr lang="en-IN" sz="1600" dirty="0"/>
              <a:t>          ▼                      ▼                       ▼</a:t>
            </a:r>
          </a:p>
          <a:p>
            <a:r>
              <a:rPr lang="en-IN" sz="1600" dirty="0"/>
              <a:t>     AGMARKNET     BHASHINI       ONDC</a:t>
            </a:r>
          </a:p>
          <a:p>
            <a:r>
              <a:rPr lang="en-IN" sz="1600" dirty="0"/>
              <a:t>       e-NAM</a:t>
            </a:r>
          </a:p>
          <a:p>
            <a:r>
              <a:rPr lang="en-IN" sz="1600" dirty="0"/>
              <a:t>          │                         │                          │</a:t>
            </a:r>
          </a:p>
          <a:p>
            <a:r>
              <a:rPr lang="en-IN" sz="1600" dirty="0"/>
              <a:t>          └───────────┼───────────┘</a:t>
            </a:r>
          </a:p>
          <a:p>
            <a:r>
              <a:rPr lang="en-IN" sz="1600" dirty="0"/>
              <a:t>                                     ▼</a:t>
            </a:r>
          </a:p>
          <a:p>
            <a:r>
              <a:rPr lang="en-IN" sz="1600" dirty="0"/>
              <a:t>                            AI DECISION</a:t>
            </a:r>
          </a:p>
          <a:p>
            <a:r>
              <a:rPr lang="en-IN" sz="1600" dirty="0"/>
              <a:t>                                      │</a:t>
            </a:r>
          </a:p>
          <a:p>
            <a:r>
              <a:rPr lang="en-IN" sz="1600" dirty="0"/>
              <a:t>                                     ▼</a:t>
            </a:r>
          </a:p>
          <a:p>
            <a:r>
              <a:rPr lang="en-IN" sz="1600" dirty="0"/>
              <a:t>                             👨‍🌾 FARMER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9A191-5C1B-E5B9-7295-9DF2F6329BF2}"/>
              </a:ext>
            </a:extLst>
          </p:cNvPr>
          <p:cNvSpPr txBox="1"/>
          <p:nvPr/>
        </p:nvSpPr>
        <p:spPr>
          <a:xfrm>
            <a:off x="6435558" y="1603249"/>
            <a:ext cx="4604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Research foundation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/>
              <a:t>Government / Data</a:t>
            </a:r>
            <a:endParaRPr lang="en-IN" dirty="0"/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 err="1"/>
              <a:t>Agmarknet</a:t>
            </a:r>
            <a:r>
              <a:rPr lang="en-IN" dirty="0"/>
              <a:t>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e-NAM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NITI Aayog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Ministry of Agriculture / DFI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Digital Public Infrastructure</a:t>
            </a:r>
            <a:endParaRPr lang="en-IN" dirty="0"/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ONDC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Bhashini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Technical research</a:t>
            </a:r>
            <a:endParaRPr lang="en-IN" dirty="0"/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Computer Vision for agricultural produce grading </a:t>
            </a: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IN" dirty="0"/>
              <a:t>AI-based agricultural price/market intelligence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4E7DA-52F3-513C-A23B-08A61559CD99}"/>
              </a:ext>
            </a:extLst>
          </p:cNvPr>
          <p:cNvSpPr txBox="1"/>
          <p:nvPr/>
        </p:nvSpPr>
        <p:spPr>
          <a:xfrm>
            <a:off x="3644231" y="5810191"/>
            <a:ext cx="5582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→ AI → Decision → Market → Payment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650BE-1C1D-00BC-C5DC-D04815CD5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-50311"/>
            <a:ext cx="1311136" cy="1223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549300-4687-247B-94D6-5EADA771E44F}"/>
              </a:ext>
            </a:extLst>
          </p:cNvPr>
          <p:cNvSpPr txBox="1"/>
          <p:nvPr/>
        </p:nvSpPr>
        <p:spPr>
          <a:xfrm>
            <a:off x="1377768" y="871249"/>
            <a:ext cx="5069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Powered by India's Agriculture + Digital</a:t>
            </a:r>
          </a:p>
          <a:p>
            <a:r>
              <a:rPr lang="en-IN" sz="1600" b="1" dirty="0"/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7723</TotalTime>
  <Words>610</Words>
  <Application>Microsoft Office PowerPoint</Application>
  <PresentationFormat>Widescreen</PresentationFormat>
  <Paragraphs>184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Courier New</vt:lpstr>
      <vt:lpstr>Garamond</vt:lpstr>
      <vt:lpstr>montserratregular</vt:lpstr>
      <vt:lpstr>Times New Roman</vt:lpstr>
      <vt:lpstr>TradeGothic</vt:lpstr>
      <vt:lpstr>Wingdings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Pawar</cp:lastModifiedBy>
  <cp:revision>149</cp:revision>
  <dcterms:created xsi:type="dcterms:W3CDTF">2013-12-12T18:46:50Z</dcterms:created>
  <dcterms:modified xsi:type="dcterms:W3CDTF">2026-08-23T16:52:58Z</dcterms:modified>
  <cp:category/>
</cp:coreProperties>
</file>