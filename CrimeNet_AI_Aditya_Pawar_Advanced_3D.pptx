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CRIMENET AI</a:t>
            </a:r>
          </a:p>
          <a:p>
            <a:pPr>
              <a:spcBef>
                <a:spcPts val="800"/>
              </a:spcBef>
              <a:defRPr sz="1800" b="1">
                <a:solidFill>
                  <a:srgbClr val="06B6D4"/>
                </a:solidFill>
              </a:defRPr>
            </a:pPr>
            <a:r>
              <a:t>Next-Generation Criminal Network &amp; Intelligence Analysis System</a:t>
            </a:r>
          </a:p>
          <a:p>
            <a:pPr>
              <a:spcBef>
                <a:spcPts val="2000"/>
              </a:spcBef>
              <a:defRPr sz="1300">
                <a:solidFill>
                  <a:srgbClr val="10B981"/>
                </a:solidFill>
              </a:defRPr>
            </a:pPr>
            <a:r>
              <a:t>Lead Architect &amp; Developer: Aditya Pawar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Graph Theory • Isolation Forest ML • Google Gemini 1.5 AI • Cytoscape 3D Engine • Telecom CDR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Intelligence Challenge: Multi-Layered Criminal Obfuscation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1. Disparate Data Silos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50,000+ LOGS / CASE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Criminals leave traces across unlinked channels: Call Detail Records, banking RTGS/NEFT transfers, handwritten FIRs, and toll plaza ANPR scans.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2. Layered Shell Networks</a:t>
            </a: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3-5 DEGREES SEPARATION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Syndicate Kingpins isolate themselves behind 3-5 tiers of proxy handlers, shell companies, and burner MSISDNs, blinding keyword-based police searches.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3. Manual Analysis Lag</a:t>
            </a:r>
          </a:p>
          <a:p>
            <a:pPr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90% TIME WASTED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Manual correlation in spreadsheets takes 10 to 14 days per case, allowing suspects to launder capital and destroy physical evidence before raids.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Solution: Automated Knowledge Graph &amp; ML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Ingestion &amp; Graph Construction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Transforms unstructured CDR, bank logs, and suspect entities into an interconnected multi-relational Knowledge Graph in &lt; 1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0078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Mathematical Kingpin Detection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Executes PageRank &amp; Betweenness Centrality to mathematically unmask true syndicate leaders and hidden bridge brokers.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07822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Multi-Source Anomaly Detection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Isolation Forest flags midnight money laundering transfers; Z-Score flags 68-call pre-incident telecom burst spikes.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7822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AI Copilot &amp; Court Dossiers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Google Gemini 1.5 synthesizes natural language tactical strategies; ReportLab exports court-admissible PDF dossiers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Interactive Network Graph: Visual Entity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685800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Live Graph Canvas (Cytoscape Force-Directed Physics)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3291840"/>
            <a:ext cx="1371600" cy="137160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Arjun Mehta</a:t>
            </a:r>
            <a:br/>
            <a:r>
              <a:t>(Kingpin)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2377440"/>
            <a:ext cx="1005840" cy="100584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Rafiq</a:t>
            </a:r>
            <a:br/>
            <a:r>
              <a:t>(Hawala)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2286000"/>
            <a:ext cx="1005840" cy="100584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Vikram</a:t>
            </a:r>
            <a:br/>
            <a:r>
              <a:t>(Logistics)</a:t>
            </a:r>
          </a:p>
        </p:txBody>
      </p:sp>
      <p:sp>
        <p:nvSpPr>
          <p:cNvPr id="11" name="Oval 10"/>
          <p:cNvSpPr/>
          <p:nvPr/>
        </p:nvSpPr>
        <p:spPr>
          <a:xfrm>
            <a:off x="2011680" y="4389120"/>
            <a:ext cx="1005840" cy="1005840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Mehta Ltd</a:t>
            </a:r>
            <a:br/>
            <a:r>
              <a:t>(Shell Org)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4389120"/>
            <a:ext cx="1005840" cy="100584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Warehouse</a:t>
            </a:r>
            <a:br/>
            <a:r>
              <a:t>(Goregaon)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1700784"/>
            <a:ext cx="356616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Graph Engine Features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Force-directed physics with dynamic collision detection.</a:t>
            </a:r>
            <a:br/>
            <a:r>
              <a:t>• Node sizing dynamically scaled to calculated PageRank.</a:t>
            </a:r>
            <a:br/>
            <a:r>
              <a:t>• Real-time node inspection with threat scores &amp; cluster IDs.</a:t>
            </a:r>
            <a:br/>
            <a:r>
              <a:t>• Multi-relational links: OWNS, ASSOCIATE_OF, LAUNDERS_VIA, OPERATES_FOR.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Graph Machine Learning: Mathematical Kingpin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PageRank Centrality Algorithm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PageRank: 0.0847 (Rank #1)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Measures structural authority and indirect influence across the entire graph topology.</a:t>
            </a:r>
            <a:br/>
            <a:r>
              <a:t>• Calculates iterative eigenvector probability: A node with few high-value connections outranks nodes with many low-value links.</a:t>
            </a:r>
            <a:br/>
            <a:r>
              <a:t>• Result: Uncovers the true mastermind even if they rarely place direct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Betweenness Centrality (Bridge Discovery)</a:t>
            </a:r>
          </a:p>
          <a:p>
            <a:pPr>
              <a:spcBef>
                <a:spcPts val="400"/>
              </a:spcBef>
              <a:defRPr sz="1600" b="1">
                <a:solidFill>
                  <a:srgbClr val="06B6D4"/>
                </a:solidFill>
              </a:defRPr>
            </a:pPr>
            <a:r>
              <a:t>Betweenness: 0.312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Identifies intermediary operatives who control shortest communication paths between separate cells.</a:t>
            </a:r>
            <a:br/>
            <a:r>
              <a:t>• Targets the 'Gatekeepers' bridging financial money laundering rings with physical logistics operations.</a:t>
            </a:r>
            <a:br/>
            <a:r>
              <a:t>• Eliminating these bridge nodes fractures the entire criminal syndicate.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Louvain Community Detection: Automated Cell Partitioning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Cluster 1: Hawala Ring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MODULARITY Q = 0.68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Leader: Arjun Mehta</a:t>
            </a:r>
            <a:br/>
            <a:r>
              <a:t>• Members: Mohammed Rafiq, Phoenix Trading LLC</a:t>
            </a:r>
            <a:br/>
            <a:r>
              <a:t>• Modus Operandi: Cross-border remittances &amp; nocturnal shell account layering.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Cluster 2: Logistics &amp; Transport</a:t>
            </a: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HOTSPOT: 19.1663 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Leader: Vikram Singh</a:t>
            </a:r>
            <a:br/>
            <a:r>
              <a:t>• Members: Priya Desai, Goregaon Industrial Warehouse</a:t>
            </a:r>
            <a:br/>
            <a:r>
              <a:t>• Modus Operandi: Weapon storage, narcotics drop points, vehicle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Cluster 3: Recruitment Cell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PREDICTED LINKS: 89%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Leader: Rohan Gupta</a:t>
            </a:r>
            <a:br/>
            <a:r>
              <a:t>• Members: Sim Card Providers, Mules</a:t>
            </a:r>
            <a:br/>
            <a:r>
              <a:t>• Modus Operandi: Sourcing burner identities and unverified UPI accounts.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Multi-Source Anomaly Detection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Isolation Forest: Financial Outliers</a:t>
            </a: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₹1.50 CR TRANSFER @ 02:00 AM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Unsupervised multidimensional anomaly detection over transaction vectors: Amount, Time, Frequency, Destination.</a:t>
            </a:r>
            <a:br/>
            <a:r>
              <a:t>• Flagged Event: ₹1.50 Crore transfer at 02:00 AM to Phoenix Trading LLC.</a:t>
            </a:r>
            <a:br/>
            <a:r>
              <a:t>• Isolation Score: 0.96 (Critical Outlier) — Instant freeze warrant recommended.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Telecom Z-Score Burst Detection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Z-SCORE: 4.8 SIGMA SPIKE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Continuously evaluates calling frequency against historical Gaussian distribution baselines.</a:t>
            </a:r>
            <a:br/>
            <a:r>
              <a:t>• Flagged Event: 68 outbound calls placed in 180 minutes on +91-9876543210 prior to raid.</a:t>
            </a:r>
            <a:br/>
            <a:r>
              <a:t>• Z-Score: 4.8 Sigma above baseline — Coordinated escape/operation detected.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Google Gemini 1.5 AI: Investigative Reasoning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Grounded Knowledge Graph Prompts</a:t>
            </a:r>
          </a:p>
          <a:p>
            <a:pPr>
              <a:spcBef>
                <a:spcPts val="400"/>
              </a:spcBef>
              <a:defRPr sz="1600" b="1">
                <a:solidFill>
                  <a:srgbClr val="06B6D4"/>
                </a:solidFill>
              </a:defRPr>
            </a:pPr>
            <a:r>
              <a:t>GEMINI 1.5 FLASH ENGINE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Live context injection: Connects Gemini directly to live Neo4j/NetworkX graph topology.</a:t>
            </a:r>
            <a:br/>
            <a:r>
              <a:t>• Analysts can query in plain English: 'Who is the highest threat?', 'What shell companies does Arjun control?', 'Explain the 2 AM anomaly'.</a:t>
            </a:r>
            <a:br/>
            <a:r>
              <a:t>• Generates structured, tactical responses in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Tactical Decision Support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100% ACTIONABLE DIRECTIVES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Recommends specific legal interception warrants under Indian Telegraph Act Sec 5(2).</a:t>
            </a:r>
            <a:br/>
            <a:r>
              <a:t>• Suggests asset freezing under PMLA (Prevention of Money Laundering Act).</a:t>
            </a:r>
            <a:br/>
            <a:r>
              <a:t>• Guides field teams with tower coordinates and IMEI surveillance directives.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Automated Forensic Dossier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Dynamic ReportLab PDF Engine</a:t>
            </a:r>
          </a:p>
          <a:p>
            <a:pPr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INSTANT 1-CLICK DOSSIER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Generates court-admissible dossiers for any target (Phone Number, Person, Shell Org, Vehicle).</a:t>
            </a:r>
            <a:br/>
            <a:r>
              <a:t>• Extracts structured CDR metrics: Dual SIM IMEIs, 30-day volume, 42.8% nocturnal call ratio, cell tower coordinates.</a:t>
            </a:r>
            <a:br/>
            <a:r>
              <a:t>• Includes automated AI executive narrative and risk score breakdown.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00784"/>
            <a:ext cx="51206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Official Law Enforcement Directives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LEGAL COMPLIANCE READY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Pre-populates statutory legal citations under Section 5(2) Indian Telegraph Act.</a:t>
            </a:r>
            <a:br/>
            <a:r>
              <a:t>• Automatically generates bank account audit notices &amp; CEIR IMEI blacklisting orders.</a:t>
            </a:r>
            <a:br/>
            <a:r>
              <a:t>• Formatted to meet official evidentiary standards.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Enterprise Technology Stack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246888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Frontend UI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React 18 &amp; Vite 5</a:t>
            </a:r>
            <a:br/>
            <a:r>
              <a:t>• TypeScript</a:t>
            </a:r>
            <a:br/>
            <a:r>
              <a:t>• Cytoscape.js Physics</a:t>
            </a:r>
            <a:br/>
            <a:r>
              <a:t>• Recharts Analytics</a:t>
            </a:r>
            <a:br/>
            <a:r>
              <a:t>• Tailwind CSS Glass HUD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1700784"/>
            <a:ext cx="246888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Backend API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Python 3.11+</a:t>
            </a:r>
            <a:br/>
            <a:r>
              <a:t>• FastAPI Async Server</a:t>
            </a:r>
            <a:br/>
            <a:r>
              <a:t>• Socket.IO Real-Time</a:t>
            </a:r>
            <a:br/>
            <a:r>
              <a:t>• Pydantic v2 Models</a:t>
            </a:r>
            <a:br/>
            <a:r>
              <a:t>• ReportLab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700784"/>
            <a:ext cx="246888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Graph &amp; ML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NetworkX Engine</a:t>
            </a:r>
            <a:br/>
            <a:r>
              <a:t>• PageRank Centrality</a:t>
            </a:r>
            <a:br/>
            <a:r>
              <a:t>• Louvain Modularity</a:t>
            </a:r>
            <a:br/>
            <a:r>
              <a:t>• Scikit-Learn</a:t>
            </a:r>
            <a:br/>
            <a:r>
              <a:t>• Isolation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5984" y="1700784"/>
            <a:ext cx="246888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AI &amp; Cloud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Google Gemini 1.5</a:t>
            </a:r>
            <a:br/>
            <a:r>
              <a:t>• Docker Container</a:t>
            </a:r>
            <a:br/>
            <a:r>
              <a:t>• RESTful Architecture</a:t>
            </a:r>
            <a:br/>
            <a:r>
              <a:t>• On-Prem / Cloud Ready</a:t>
            </a:r>
            <a:br/>
            <a:r>
              <a:t>• High Scalability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Real Data Processing &amp; Ingestion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Call Detail Records (CDR)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Ingests standard CSV/Excel call logs.</a:t>
            </a:r>
            <a:br/>
            <a:r>
              <a:t>• Extracts caller/receiver numbers, call duration, timestamps, and cell tower coordinates.</a:t>
            </a:r>
            <a:br/>
            <a:r>
              <a:t>• Detects burner phones &amp; SIM chains.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Financial Transactions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Ingests NEFT/RTGS/IMPS banking records.</a:t>
            </a:r>
            <a:br/>
            <a:r>
              <a:t>• Maps funds routing across multi-hop corporate accounts.</a:t>
            </a:r>
            <a:br/>
            <a:r>
              <a:t>• Exposes circular hawala loops &amp; money laundering.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FIR &amp; Police Intelligence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Ingests case reports, seized narcotics/weapons, and vehicle registration numbers.</a:t>
            </a:r>
            <a:br/>
            <a:r>
              <a:t>• Auto-correlates cross-state criminal investigations.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Enterprise &amp; Law Enforcement Target Markets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Law Enforcement &amp; Defense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GOVTECH MARKET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State police departments, special crime branches, counter-narcotics teams, and intelligence agencies investigating organized syndicates.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Banking &amp; Financial AML</a:t>
            </a:r>
          </a:p>
          <a:p>
            <a:pPr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FINTECH COMPLIANCE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Commercial banks, fintechs, and credit card networks detecting mule accounts, shell companies, and fraudulent transaction 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Corporate Forensic Audit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FORENSIC CONSULTING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Big 4 accounting firms, corporate fraud investigators, and private intelligence consultancies investigating internal fraud.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Quantifiable Impact &amp;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90% Faster Analysis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14 DAYS → 10 SECONDS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Cuts cross-referencing of 50,000+ CDR and banking logs from 14 days to under 10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0078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Zero Hidden Intermediaries</a:t>
            </a:r>
          </a:p>
          <a:p>
            <a:pPr>
              <a:spcBef>
                <a:spcPts val="400"/>
              </a:spcBef>
              <a:defRPr sz="1600" b="1">
                <a:solidFill>
                  <a:srgbClr val="06B6D4"/>
                </a:solidFill>
              </a:defRPr>
            </a:pPr>
            <a:r>
              <a:t>100% GRAPH COVERAGE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Mathematically guarantees discovery of multi-hop proxy nodes that human analysts overlook.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07822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Explainable AI (XAI)</a:t>
            </a: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COURT-ADMISSIBLE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Every threat score is backed by transparent mathematical formulas rather than black-box guesses.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78224"/>
            <a:ext cx="5120640" cy="2103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EF4444"/>
                </a:solidFill>
              </a:defRPr>
            </a:pPr>
            <a:r>
              <a:t>Enterprise Valuation</a:t>
            </a: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</a:defRPr>
            </a:pPr>
            <a:r>
              <a:t>HIGH ROI VALUATION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Reduces investigative operational expenses by ₹25L+ per corporate audit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CRIMENET AI // DEFENSE COMMAND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Future Roadmap: 3D Geospatial &amp; Computer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Phase 1: Neo4j Scale</a:t>
            </a:r>
          </a:p>
          <a:p>
            <a:pPr>
              <a:spcBef>
                <a:spcPts val="400"/>
              </a:spcBef>
              <a:defRPr sz="1600" b="1">
                <a:solidFill>
                  <a:srgbClr val="3B82F6"/>
                </a:solidFill>
              </a:defRPr>
            </a:pPr>
            <a:r>
              <a:t>10M+ NODES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Migration to enterprise Neo4j Aura Graph Database for 10M+ node scaling.</a:t>
            </a:r>
            <a:br/>
            <a:r>
              <a:t>• Kafka streaming data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Phase 2: 3D Mapbox GIS</a:t>
            </a:r>
          </a:p>
          <a:p>
            <a:pPr>
              <a:spcBef>
                <a:spcPts val="400"/>
              </a:spcBef>
              <a:defRPr sz="1600" b="1">
                <a:solidFill>
                  <a:srgbClr val="10B981"/>
                </a:solidFill>
              </a:defRPr>
            </a:pPr>
            <a:r>
              <a:t>3D GEOSPATIAL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3D building height maps with live cell tower coverage cones.</a:t>
            </a:r>
            <a:br/>
            <a:r>
              <a:t>• GPS movement trajectory playback.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00784"/>
            <a:ext cx="3291840" cy="4389120"/>
          </a:xfrm>
          <a:prstGeom prst="roundRect">
            <a:avLst/>
          </a:prstGeom>
          <a:solidFill>
            <a:srgbClr val="020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C13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Phase 3: Multi-Lingual OCR</a:t>
            </a: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</a:defRPr>
            </a:pPr>
            <a:r>
              <a:t>COMPUTER VISION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OCR support for handwritten regional police FIRs (Hindi, Marathi).</a:t>
            </a:r>
            <a:br/>
            <a:r>
              <a:t>• Facial recognition node matching.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1072865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CRIMENET AI</a:t>
            </a:r>
          </a:p>
          <a:p>
            <a:pPr>
              <a:spcBef>
                <a:spcPts val="800"/>
              </a:spcBef>
              <a:defRPr sz="1800" b="1">
                <a:solidFill>
                  <a:srgbClr val="06B6D4"/>
                </a:solidFill>
              </a:defRPr>
            </a:pPr>
            <a:r>
              <a:t>Transforming Complex Data into Tactical Law Enforcement Intelligence</a:t>
            </a:r>
          </a:p>
          <a:p>
            <a:pPr>
              <a:spcBef>
                <a:spcPts val="2000"/>
              </a:spcBef>
              <a:defRPr sz="1400">
                <a:solidFill>
                  <a:srgbClr val="10B981"/>
                </a:solidFill>
              </a:defRPr>
            </a:pPr>
            <a:r>
              <a:t>Lead Architect &amp; Developer: Aditya Pawar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Ready for Live System Demonstration &amp; Technical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